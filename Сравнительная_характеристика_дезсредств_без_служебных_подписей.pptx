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97ea0352df4278" /><Relationship Type="http://schemas.openxmlformats.org/officeDocument/2006/relationships/extended-properties" Target="/docProps/app.xml" Id="R8218164a5a3c4896" /><Relationship Type="http://schemas.openxmlformats.org/officeDocument/2006/relationships/officeDocument" Target="/ppt/presentation.xml" Id="Rac6d45ab11ad43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4875dce167405e"/>
  </p:sldMasterIdLst>
  <p:notesMasterIdLst>
    <p:notesMasterId xmlns:r="http://schemas.openxmlformats.org/officeDocument/2006/relationships" r:id="Rf2cab9c91e6f4846"/>
  </p:notesMasterIdLst>
  <p:sldIdLst>
    <p:sldId xmlns:r="http://schemas.openxmlformats.org/officeDocument/2006/relationships" id="256" r:id="Rfd18c8e524aa45d8"/>
    <p:sldId xmlns:r="http://schemas.openxmlformats.org/officeDocument/2006/relationships" id="257" r:id="Rce63a023bdac4831"/>
    <p:sldId xmlns:r="http://schemas.openxmlformats.org/officeDocument/2006/relationships" id="258" r:id="R36c1f96cd37e4cbd"/>
    <p:sldId xmlns:r="http://schemas.openxmlformats.org/officeDocument/2006/relationships" id="259" r:id="R4724d92870fe4408"/>
    <p:sldId xmlns:r="http://schemas.openxmlformats.org/officeDocument/2006/relationships" id="260" r:id="Rbacd39e3649d4148"/>
    <p:sldId xmlns:r="http://schemas.openxmlformats.org/officeDocument/2006/relationships" id="261" r:id="R30f55f75bfda4f2d"/>
    <p:sldId xmlns:r="http://schemas.openxmlformats.org/officeDocument/2006/relationships" id="262" r:id="R71aa6a446ecd40ce"/>
    <p:sldId xmlns:r="http://schemas.openxmlformats.org/officeDocument/2006/relationships" id="263" r:id="Rb34982613c4443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8d56afe0434516" /><Relationship Type="http://schemas.openxmlformats.org/officeDocument/2006/relationships/slideMaster" Target="/ppt/slideMasters/slideMaster1.xml" Id="R0f4875dce167405e" /><Relationship Type="http://schemas.openxmlformats.org/officeDocument/2006/relationships/notesMaster" Target="/ppt/notesMasters/notesMaster1.xml" Id="Rf2cab9c91e6f4846" /><Relationship Type="http://schemas.openxmlformats.org/officeDocument/2006/relationships/presProps" Target="/ppt/presProps.xml" Id="R1f4f7634ce14411e" /><Relationship Type="http://schemas.openxmlformats.org/officeDocument/2006/relationships/tableStyles" Target="/ppt/tableStyles.xml" Id="Re74d1e425a7e47a8" /><Relationship Type="http://schemas.openxmlformats.org/officeDocument/2006/relationships/slide" Target="/ppt/slides/slide1.xml" Id="Rfd18c8e524aa45d8" /><Relationship Type="http://schemas.openxmlformats.org/officeDocument/2006/relationships/slide" Target="/ppt/slides/slide2.xml" Id="Rce63a023bdac4831" /><Relationship Type="http://schemas.openxmlformats.org/officeDocument/2006/relationships/slide" Target="/ppt/slides/slide3.xml" Id="R36c1f96cd37e4cbd" /><Relationship Type="http://schemas.openxmlformats.org/officeDocument/2006/relationships/slide" Target="/ppt/slides/slide4.xml" Id="R4724d92870fe4408" /><Relationship Type="http://schemas.openxmlformats.org/officeDocument/2006/relationships/slide" Target="/ppt/slides/slide5.xml" Id="Rbacd39e3649d4148" /><Relationship Type="http://schemas.openxmlformats.org/officeDocument/2006/relationships/slide" Target="/ppt/slides/slide6.xml" Id="R30f55f75bfda4f2d" /><Relationship Type="http://schemas.openxmlformats.org/officeDocument/2006/relationships/slide" Target="/ppt/slides/slide7.xml" Id="R71aa6a446ecd40ce" /><Relationship Type="http://schemas.openxmlformats.org/officeDocument/2006/relationships/slide" Target="/ppt/slides/slide8.xml" Id="Rb34982613c4443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6a5931bef84f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2401ee436a43e6" /><Relationship Type="http://schemas.openxmlformats.org/officeDocument/2006/relationships/notesMaster" Target="/ppt/notesMasters/notesMaster1.xml" Id="Re7373995406f4c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21fadab9024f1d" /><Relationship Type="http://schemas.openxmlformats.org/officeDocument/2006/relationships/notesMaster" Target="/ppt/notesMasters/notesMaster1.xml" Id="Raab48de6b6ed48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a2925a63454b6b" /><Relationship Type="http://schemas.openxmlformats.org/officeDocument/2006/relationships/notesMaster" Target="/ppt/notesMasters/notesMaster1.xml" Id="Rf2a0602f32da45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e1dfb2e248419e" /><Relationship Type="http://schemas.openxmlformats.org/officeDocument/2006/relationships/notesMaster" Target="/ppt/notesMasters/notesMaster1.xml" Id="R9978d7a56e0b4c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8500a88ed440ea" /><Relationship Type="http://schemas.openxmlformats.org/officeDocument/2006/relationships/notesMaster" Target="/ppt/notesMasters/notesMaster1.xml" Id="Rabb2c90677e040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dc85af9ccd4c53" /><Relationship Type="http://schemas.openxmlformats.org/officeDocument/2006/relationships/notesMaster" Target="/ppt/notesMasters/notesMaster1.xml" Id="R95d39fd4b71d46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d3729943dc48f6" /><Relationship Type="http://schemas.openxmlformats.org/officeDocument/2006/relationships/notesMaster" Target="/ppt/notesMasters/notesMaster1.xml" Id="Rc6d6aa0efecc43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7a3420d43e4582" /><Relationship Type="http://schemas.openxmlformats.org/officeDocument/2006/relationships/notesMaster" Target="/ppt/notesMasters/notesMaster1.xml" Id="R7309ec879fe546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Титульный слайд и цель по структуре пользователя. Режимы применения необходимо сверять с актуальными инструкциями конкретных поставок.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Критерии соответствуют плану пользователя. Экономическое сравнение требует актуальных закупочных цен и данных о расходе рабочих растворов.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https://www.gkpd.by/instrukcii/inol-rastvor-1775.html ; https://medcatalog.by/products/inol ; https://profistyle.by/sredstvo-dezinficiruyushchee-citoklin-layt-s-raspylitelem-750-ml.html . Изображения предоставлены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https://medcatalog.by/products/logodez-forte ; https://biosanpartner.ru/documents/files/kryshtalin-ekodez-med.pdf ; https://etalon-medical.ru/expendables/antiseptics/inkrasept10a . Изображения предоставлены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https://medandmore.kz/catalog/dezinfitsiruyushchie_sredstva/dezinfektsiya_poverkhnostey/16245/ ; https://dez-prom.ru/images/instr/Duacid_instr_01-09_2009.pdf ; https://medcatalog.by/products/duatsid.pdf . Изображения предоставлены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Таблица включает семь средств из основного анализа. Анасепт вынесен на отдельный слайд по структуре пользователя. Источники перечислены в заметках к слайдам 3–5.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https://medcatalog.by/products/anasept.pdf ; https://medcatalog.by/products/anasept . Название уточнено по этикетке и каталогу: «Анасепт». Изображение предоставлено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Выводы основаны на представленном пользователем плане и открытой документации. Они не заменяют действующие инструкции и локальные регламенты ЛПО.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2d834529842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52bf2df6a42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44571b3264d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00b58082340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92d36d156c42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690acdd604f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4E2BFC-9B3C-425C-B832-13B170ECF5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FDE907-F0FA-4406-B85D-89E07DBEF9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E8D759B-8242-4704-A159-3FE18B973B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F13922-28BC-4292-B6CB-F5D8587DD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110B96-C4A0-4E8D-9EF5-0A0DF3FBBB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2875C5-2F88-4537-BEB9-98F67515E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F06F9A-A606-44DC-8059-DC286021A1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E15DAF-B295-4EDE-B83E-280817E1F5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8D3666-0893-4CA7-8E78-C6ECA82DD6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0A5952-1B26-405F-AD92-66ECB085B4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9e1f82825b43c1" /><Relationship Type="http://schemas.openxmlformats.org/officeDocument/2006/relationships/slideLayout" Target="/ppt/slideLayouts/slideLayout1.xml" Id="R7cf96e75fcda47d2" /><Relationship Type="http://schemas.openxmlformats.org/officeDocument/2006/relationships/slideLayout" Target="/ppt/slideLayouts/slideLayout2.xml" Id="Rda68d51da9fe4bac" /><Relationship Type="http://schemas.openxmlformats.org/officeDocument/2006/relationships/slideLayout" Target="/ppt/slideLayouts/slideLayout3.xml" Id="R1055206fa77a4b4a" /><Relationship Type="http://schemas.openxmlformats.org/officeDocument/2006/relationships/slideLayout" Target="/ppt/slideLayouts/slideLayout4.xml" Id="R1066a57497d54b68" /><Relationship Type="http://schemas.openxmlformats.org/officeDocument/2006/relationships/slideLayout" Target="/ppt/slideLayouts/slideLayout5.xml" Id="R44ad63abeac1429a" /><Relationship Type="http://schemas.openxmlformats.org/officeDocument/2006/relationships/slideLayout" Target="/ppt/slideLayouts/slideLayout6.xml" Id="R9de1714ca43d42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f96e75fcda47d2"/>
    <p:sldLayoutId xmlns:r="http://schemas.openxmlformats.org/officeDocument/2006/relationships" id="2147483650" r:id="Rda68d51da9fe4bac"/>
    <p:sldLayoutId xmlns:r="http://schemas.openxmlformats.org/officeDocument/2006/relationships" id="2147483651" r:id="R1055206fa77a4b4a"/>
    <p:sldLayoutId xmlns:r="http://schemas.openxmlformats.org/officeDocument/2006/relationships" id="2147483652" r:id="R1066a57497d54b68"/>
    <p:sldLayoutId xmlns:r="http://schemas.openxmlformats.org/officeDocument/2006/relationships" id="2147483653" r:id="R44ad63abeac1429a"/>
    <p:sldLayoutId xmlns:r="http://schemas.openxmlformats.org/officeDocument/2006/relationships" id="2147483654" r:id="R9de1714ca43d42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3a1eddaea64130" /><Relationship Type="http://schemas.openxmlformats.org/officeDocument/2006/relationships/notesSlide" Target="/ppt/notesSlides/notesSlide1.xml" Id="R90f40db485e247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e0f53351764ac4" /><Relationship Type="http://schemas.openxmlformats.org/officeDocument/2006/relationships/notesSlide" Target="/ppt/notesSlides/notesSlide2.xml" Id="R23cfef4ec5854d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159ecc9a946b6" /><Relationship Type="http://schemas.openxmlformats.org/officeDocument/2006/relationships/image" Target="/ppt/media/image.png" Id="Rcb55d246da3f49e4" /><Relationship Type="http://schemas.openxmlformats.org/officeDocument/2006/relationships/image" Target="/ppt/media/image2.png" Id="Rac6e6bdddeee4351" /><Relationship Type="http://schemas.openxmlformats.org/officeDocument/2006/relationships/notesSlide" Target="/ppt/notesSlides/notesSlide3.xml" Id="Rf7b8a8d8fe4e4a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f2edd000c24c7e" /><Relationship Type="http://schemas.openxmlformats.org/officeDocument/2006/relationships/image" Target="/ppt/media/image3.png" Id="R0c6985dacef94aac" /><Relationship Type="http://schemas.openxmlformats.org/officeDocument/2006/relationships/image" Target="/ppt/media/image4.png" Id="Rca61976a7dd240b8" /><Relationship Type="http://schemas.openxmlformats.org/officeDocument/2006/relationships/image" Target="/ppt/media/image5.png" Id="R479e5d84d21f46c5" /><Relationship Type="http://schemas.openxmlformats.org/officeDocument/2006/relationships/notesSlide" Target="/ppt/notesSlides/notesSlide4.xml" Id="R1e4f2225aef348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32cc176c04aa6" /><Relationship Type="http://schemas.openxmlformats.org/officeDocument/2006/relationships/image" Target="/ppt/media/image6.png" Id="R65daee1d8f77454b" /><Relationship Type="http://schemas.openxmlformats.org/officeDocument/2006/relationships/image" Target="/ppt/media/image7.png" Id="R635e8139bbfd4512" /><Relationship Type="http://schemas.openxmlformats.org/officeDocument/2006/relationships/notesSlide" Target="/ppt/notesSlides/notesSlide5.xml" Id="Rdfcb6d1c89cc49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8a29b1ec7f4230" /><Relationship Type="http://schemas.openxmlformats.org/officeDocument/2006/relationships/notesSlide" Target="/ppt/notesSlides/notesSlide6.xml" Id="R8ca51f436f2c46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3b0c9a4748412b" /><Relationship Type="http://schemas.openxmlformats.org/officeDocument/2006/relationships/image" Target="/ppt/media/image8.png" Id="Rba115e9c372443e2" /><Relationship Type="http://schemas.openxmlformats.org/officeDocument/2006/relationships/notesSlide" Target="/ppt/notesSlides/notesSlide7.xml" Id="Rc7dbbcc6d0ae40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24f673bd6d4ceb" /><Relationship Type="http://schemas.openxmlformats.org/officeDocument/2006/relationships/notesSlide" Target="/ppt/notesSlides/notesSlide8.xml" Id="Re9d861b2be3b45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50693-A012-49A0-BB55-178C0AE5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A78"/>
          </a:solidFill>
          <a:ln xmlns:a="http://schemas.openxmlformats.org/drawingml/2006/main" w="0">
            <a:solidFill>
              <a:srgbClr val="2DAA7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17F1F-15B1-401F-8170-7AB4C597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0"/>
            <a:ext cx="2524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E"/>
          </a:solidFill>
          <a:ln xmlns:a="http://schemas.openxmlformats.org/drawingml/2006/main" w="0">
            <a:solidFill>
              <a:srgbClr val="DDF3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CA0C5-4F01-4460-BDA6-04D85394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36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6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6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6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6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6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6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6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6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Современные дезинфицирующие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средства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5B007-3C4E-41F5-BAC4-7AB2E29E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73D1E-2066-402C-8A5F-F0D5C81C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8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ЛПО Гродненского района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4317A-CB7B-44BE-B13A-F4EF5E11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5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2B36"/>
                </a:solidFill>
                <a:latin typeface="Arial"/>
                <a:ea typeface="Arial"/>
                <a:cs typeface="Arial"/>
              </a:rPr>
              <a:t>Цель: обоснование выбора дезинфицирующих средств для различных объектов и видов обработки в лечебно-профилактических организациях.</a:t>
            </a:r>
          </a:p>
        </p:txBody>
      </p:sp>
    </p:spTree>
    <p:extLst>
      <p:ext uri="{BB962C8B-B14F-4D97-AF65-F5344CB8AC3E}">
        <p14:creationId xmlns:p14="http://schemas.microsoft.com/office/powerpoint/2010/main" val="2091565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170F7-5A20-4314-B7D8-CFB425D9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Критерии сравнения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10414-A4E5-4F91-A9C9-20F9CE8D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14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568F8-FEAD-4AFB-B008-80EDBBEC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505075" cy="4095750"/>
          </a:xfrm>
          <a:prstGeom xmlns:a="http://schemas.openxmlformats.org/drawingml/2006/main" prst="roundRect">
            <a:avLst>
              <a:gd name="adj" fmla="val 8365"/>
            </a:avLst>
          </a:prstGeom>
          <a:solidFill xmlns:a="http://schemas.openxmlformats.org/drawingml/2006/main">
            <a:srgbClr val="123044"/>
          </a:solidFill>
          <a:ln xmlns:a="http://schemas.openxmlformats.org/drawingml/2006/main" w="9525">
            <a:solidFill>
              <a:srgbClr val="1230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C3528-C92C-4827-A698-6C550301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75" b="1">
                <a:solidFill>
                  <a:srgbClr val="77D4C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77D4C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77D4C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77D4C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77D4C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77D4C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77D4C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77D4C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77D4C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77D4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7D4C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97E54-D14D-48C9-B163-7B40578C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47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Действующие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вещества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7DAD7-1530-421E-AAD1-64ECEB57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2047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75" b="0">
                <a:solidFill>
                  <a:srgbClr val="D8E9ED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D8E9ED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D8E9ED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D8E9ED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D8E9ED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D8E9ED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D8E9ED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D8E9ED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D8E9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9E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E9ED"/>
                </a:solidFill>
                <a:latin typeface="Arial"/>
                <a:ea typeface="Arial"/>
                <a:cs typeface="Arial"/>
              </a:rPr>
              <a:t>Химическая основа и спектр активности: бактерии, вирусы, грибы и микобактерии туберкулеза.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AA7AF-46A4-4457-AF57-B0A26070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524000"/>
            <a:ext cx="2505075" cy="4095750"/>
          </a:xfrm>
          <a:prstGeom xmlns:a="http://schemas.openxmlformats.org/drawingml/2006/main" prst="roundRect">
            <a:avLst>
              <a:gd name="adj" fmla="val 83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6D45E-34CF-4F9B-8736-48F69BA5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09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05D0D-6575-4C89-A845-A374D996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381250"/>
            <a:ext cx="2047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Форма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выпуска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CEC14-A8CE-4E9E-A822-E0D56097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76625"/>
            <a:ext cx="2047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Готовый препарат или концентрат. Для концентрата важны точность приготовления и срок хранения раствора.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C2211-0B19-4746-B455-EB03FFD4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2505075" cy="4095750"/>
          </a:xfrm>
          <a:prstGeom xmlns:a="http://schemas.openxmlformats.org/drawingml/2006/main" prst="roundRect">
            <a:avLst>
              <a:gd name="adj" fmla="val 83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8B3CF-BF4D-4CED-879B-9551F1E7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EC622-DE5A-4936-A9C9-5DAE0D6D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047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Токсичность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и безопасность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6DE0C-BF35-478E-9567-B91C7883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76625"/>
            <a:ext cx="2047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Класс опасности, условия работы персонала и совместимость с обрабатываемыми материалами.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4ED4D-2C62-4A7E-8102-A97F4017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524000"/>
            <a:ext cx="2505075" cy="4095750"/>
          </a:xfrm>
          <a:prstGeom xmlns:a="http://schemas.openxmlformats.org/drawingml/2006/main" prst="roundRect">
            <a:avLst>
              <a:gd name="adj" fmla="val 83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3BEDF-609B-4E31-B75B-7DB964CD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09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F5ED6-B91A-44A6-A947-A6E09CFF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81250"/>
            <a:ext cx="2047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Экономичность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DBB39-43CA-448C-9E0C-D4AD3643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76625"/>
            <a:ext cx="2047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Расход концентрата, стоимость рабочего раствора и допустимый срок его использования.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03358-5759-4EDC-80CF-73ABC841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7838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BF511-A841-4887-AB7F-E7677737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Средства на основе спиртов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15EC2-47F0-40E8-AC8F-C842C48B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14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58CD5-AACE-4E4D-A107-34475BC3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353050" cy="4905375"/>
          </a:xfrm>
          <a:prstGeom xmlns:a="http://schemas.openxmlformats.org/drawingml/2006/main" prst="roundRect">
            <a:avLst>
              <a:gd name="adj" fmla="val 42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E3CD8-AF62-489B-B2E3-91076118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952625" cy="2400300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5d246da3f49e4"/>
          <a:stretch xmlns:a="http://schemas.openxmlformats.org/drawingml/2006/main"/>
        </p:blipFill>
        <p:spPr>
          <a:xfrm xmlns:a="http://schemas.openxmlformats.org/drawingml/2006/main">
            <a:off x="838200" y="1862138"/>
            <a:ext cx="1800225" cy="18002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A77B4-7BA9-4175-AEEA-490A144C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609725"/>
            <a:ext cx="2733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Инол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E6C1E-4909-47B8-9990-FD8CB68D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00250"/>
            <a:ext cx="14287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DDF3E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7C78"/>
                </a:solidFill>
                <a:latin typeface="Arial"/>
                <a:ea typeface="Arial"/>
                <a:cs typeface="Arial"/>
              </a:rPr>
              <a:t>готовый раствор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B2907-B657-4165-A6FB-8B45E0DD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90775"/>
            <a:ext cx="2733675" cy="3457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spcAft>
                <a:spcPts val="6"/>
              </a:spcAft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Состав: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этиловый спирт 65,964 г и изопропиловый спирт 3,23 г на 100 мл.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6"/>
              </a:spcAft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Спектр: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бактерии, включая микобактерии туберкулеза, Candida, вирусы парентеральных гепатитов и ВИЧ.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6"/>
              </a:spcAft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Применение: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гигиеническая и хирургическая антисептика рук, обработка кожи перед инвазивными манипуляциями.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Особенность: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остаточное действие заявлено до 3 часов при работе в перчатках.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D6548-A4B3-4CC9-B959-78F4B0E2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353050" cy="4905375"/>
          </a:xfrm>
          <a:prstGeom xmlns:a="http://schemas.openxmlformats.org/drawingml/2006/main" prst="roundRect">
            <a:avLst>
              <a:gd name="adj" fmla="val 42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286BF-F202-48E2-94A0-55122834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62100"/>
            <a:ext cx="1952625" cy="2400300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e6bdddeee4351"/>
          <a:stretch xmlns:a="http://schemas.openxmlformats.org/drawingml/2006/main"/>
        </p:blipFill>
        <p:spPr>
          <a:xfrm xmlns:a="http://schemas.openxmlformats.org/drawingml/2006/main">
            <a:off x="6807651" y="1638300"/>
            <a:ext cx="1329422" cy="2247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F48AA-F1B3-494B-BEB3-92C46EC4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609725"/>
            <a:ext cx="2733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Цитоклин-лайт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85CB8-12DB-4917-8F6C-4680DB04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000250"/>
            <a:ext cx="14287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DDF3E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7C78"/>
                </a:solidFill>
                <a:latin typeface="Arial"/>
                <a:ea typeface="Arial"/>
                <a:cs typeface="Arial"/>
              </a:rPr>
              <a:t>готовый препарат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8D926-E4BD-4A3D-AE61-61327EF4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390775"/>
            <a:ext cx="2733675" cy="3457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spcAft>
                <a:spcPts val="6"/>
              </a:spcAft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Состав: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изопропиловый спирт около 35% по маркировке представленного флакона.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6"/>
              </a:spcAft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Спектр: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бактерицидная, вирулицидная и фунгицидная активность по инструкции.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6"/>
              </a:spcAft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Применение: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гигиеническая обработка рук, экстренная дезинфекция небольших поверхностей и ИМН.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Особенность: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не требует разведения. Совместимость с материалами проверяют по инструкции.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5B489-64E9-4D44-87EB-DBF66461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7510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A3AFC-D526-4C29-A878-68BC4023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Средства на основе ЧАС и гуанидинов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548BB-1F95-4D79-BCAB-B3A911E1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14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7824D-11D1-489F-A389-AD33A082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457575" cy="4905375"/>
          </a:xfrm>
          <a:prstGeom xmlns:a="http://schemas.openxmlformats.org/drawingml/2006/main" prst="roundRect">
            <a:avLst>
              <a:gd name="adj" fmla="val 5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0CAF8-B7E8-48A4-BF7F-2A9CA28E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381125" cy="180975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985dacef94aac"/>
          <a:stretch xmlns:a="http://schemas.openxmlformats.org/drawingml/2006/main"/>
        </p:blipFill>
        <p:spPr>
          <a:xfrm xmlns:a="http://schemas.openxmlformats.org/drawingml/2006/main">
            <a:off x="946559" y="1638300"/>
            <a:ext cx="973907" cy="1657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3B96D-B560-41F4-B590-53D9EB2A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287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Логодез-Форте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739B3-755A-4EC4-90F1-F7701663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371725"/>
            <a:ext cx="1504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DDF3EE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98127"/>
          </a:bodyPr>
          <a:lstStyle xmlns:a="http://schemas.openxmlformats.org/drawingml/2006/main">
            <a:lvl1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7C78"/>
                </a:solidFill>
                <a:latin typeface="Arial"/>
                <a:ea typeface="Arial"/>
                <a:cs typeface="Arial"/>
              </a:rPr>
              <a:t>ЧАС 4,5% + ПГМГ 1,5%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88BE4-355A-46F7-870E-EAC49462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30575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C2B36"/>
                </a:solidFill>
                <a:latin typeface="Arial"/>
                <a:ea typeface="Arial"/>
                <a:cs typeface="Arial"/>
              </a:rPr>
              <a:t>Поверхности, ИМН и ПСО. Заявлен бактерицидный, вирулицидный и фунгицидный спектр. Рабочий раствор хранится до 15 суток.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1E01B-8E93-40EA-8193-74FA24C2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352550"/>
            <a:ext cx="3457575" cy="4905375"/>
          </a:xfrm>
          <a:prstGeom xmlns:a="http://schemas.openxmlformats.org/drawingml/2006/main" prst="roundRect">
            <a:avLst>
              <a:gd name="adj" fmla="val 5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1D35E-B741-4842-BDAC-3BEC9F9C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562100"/>
            <a:ext cx="1381125" cy="180975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1976a7dd240b8"/>
          <a:stretch xmlns:a="http://schemas.openxmlformats.org/drawingml/2006/main"/>
        </p:blipFill>
        <p:spPr>
          <a:xfrm xmlns:a="http://schemas.openxmlformats.org/drawingml/2006/main">
            <a:off x="4743012" y="1638300"/>
            <a:ext cx="829552" cy="1657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EBE6C-976B-4A69-829D-56ED86A2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287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Крышталин-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ЭКОДЕЗ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94340-CFE0-47DB-B5DC-9249A14C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71725"/>
            <a:ext cx="1504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DDF3EE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98127"/>
          </a:bodyPr>
          <a:lstStyle xmlns:a="http://schemas.openxmlformats.org/drawingml/2006/main">
            <a:lvl1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7C78"/>
                </a:solidFill>
                <a:latin typeface="Arial"/>
                <a:ea typeface="Arial"/>
                <a:cs typeface="Arial"/>
              </a:rPr>
              <a:t>АДБАХ 10% + ПГМГ 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D4BA7-5E3C-44A5-94C6-21AA257E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38550"/>
            <a:ext cx="30575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C2B36"/>
                </a:solidFill>
                <a:latin typeface="Arial"/>
                <a:ea typeface="Arial"/>
                <a:cs typeface="Arial"/>
              </a:rPr>
              <a:t>Поверхности, ИМН и ПСО, стоматологические объекты, кувезы и оборудование. Рабочий раствор хранится до 14 суток.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65D65-4C70-4ABF-9492-0A91F0F0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52550"/>
            <a:ext cx="3457575" cy="4905375"/>
          </a:xfrm>
          <a:prstGeom xmlns:a="http://schemas.openxmlformats.org/drawingml/2006/main" prst="roundRect">
            <a:avLst>
              <a:gd name="adj" fmla="val 5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60754-5F49-4A4B-80E4-C36CCFC4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62100"/>
            <a:ext cx="1381125" cy="180975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e5d84d21f46c5"/>
          <a:stretch xmlns:a="http://schemas.openxmlformats.org/drawingml/2006/main"/>
        </p:blipFill>
        <p:spPr>
          <a:xfrm xmlns:a="http://schemas.openxmlformats.org/drawingml/2006/main">
            <a:off x="8267700" y="1893356"/>
            <a:ext cx="1228725" cy="1147239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CACD3-846B-4772-9714-D6895E59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6287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Инкрасепт-10А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742C5-72A7-4B9C-9B96-9EE15892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371725"/>
            <a:ext cx="1504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DDF3EE"/>
            </a:solidFill>
            <a:prstDash val="solid"/>
          </a:ln>
        </p:spPr>
        <p:txBody>
          <a:bodyPr xmlns:a="http://schemas.openxmlformats.org/drawingml/2006/main" lIns="57150" tIns="57150" rIns="57150" bIns="57150" anchor="ctr">
            <a:normAutofit fontScale="100000"/>
          </a:bodyPr>
          <a:lstStyle xmlns:a="http://schemas.openxmlformats.org/drawingml/2006/main">
            <a:lvl1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7C78"/>
                </a:solidFill>
                <a:latin typeface="Arial"/>
                <a:ea typeface="Arial"/>
                <a:cs typeface="Arial"/>
              </a:rPr>
              <a:t>ПГМГ 10% + НПАВ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8B861-F9C0-4E90-87EF-6C9C8730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30575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C2B36"/>
                </a:solidFill>
                <a:latin typeface="Arial"/>
                <a:ea typeface="Arial"/>
                <a:cs typeface="Arial"/>
              </a:rPr>
              <a:t>Мытье и дезинфекция поверхностей, обработка и ПСО инструментов. Не проявляет коррозионной активности для перечисленных в инструкции материалов.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8E3FDF-D046-4FE6-9410-A56C4FDD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4777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EED5F-C346-4691-808A-B8A4F67A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Средства на основе аминов, ЧАС и бигуанидинов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B1B83-3257-4412-9B7C-4ADD1CF4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14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62830-ED31-4557-9E57-B9E3283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353050" cy="4905375"/>
          </a:xfrm>
          <a:prstGeom xmlns:a="http://schemas.openxmlformats.org/drawingml/2006/main" prst="roundRect">
            <a:avLst>
              <a:gd name="adj" fmla="val 42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07C88-C7BC-41A6-A114-AB6632C6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952625" cy="2400300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aee1d8f77454b"/>
          <a:stretch xmlns:a="http://schemas.openxmlformats.org/drawingml/2006/main"/>
        </p:blipFill>
        <p:spPr>
          <a:xfrm xmlns:a="http://schemas.openxmlformats.org/drawingml/2006/main">
            <a:off x="1174433" y="1638300"/>
            <a:ext cx="1127760" cy="2247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8554D-CD36-4173-9DB5-C37DB10E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609725"/>
            <a:ext cx="2733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Аминоцид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89C61-C7D7-4B83-BC43-E59103D8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00250"/>
            <a:ext cx="14287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DDF3E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7C78"/>
                </a:solidFill>
                <a:latin typeface="Arial"/>
                <a:ea typeface="Arial"/>
                <a:cs typeface="Arial"/>
              </a:rPr>
              <a:t>концентрат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94E86-CA89-47B4-89D2-FA539644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90775"/>
            <a:ext cx="2733675" cy="3457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spcAft>
                <a:spcPts val="6"/>
              </a:spcAft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Состав: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третичный амин 10,1%, АДБАХ 3,6% и дидецилдиметиламмоний хлорид 6,15% по доступному описанию белорусского продукта.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6"/>
              </a:spcAft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Спектр: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бактерицидная, вирулицидная и фунгицидная активность по режимам инструкции.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6"/>
              </a:spcAft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Применение: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поверхности, оборудование, ИМН и совмещенная ПСО.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Особенность: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обладает моющим действием. Точный состав проверяют по инструкции конкретной поставки.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DC383-3F41-4228-B360-52C1CB4E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5353050" cy="4905375"/>
          </a:xfrm>
          <a:prstGeom xmlns:a="http://schemas.openxmlformats.org/drawingml/2006/main" prst="roundRect">
            <a:avLst>
              <a:gd name="adj" fmla="val 42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F4951-42F1-4063-B0C2-9D3DEF14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62100"/>
            <a:ext cx="1952625" cy="2400300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e8139bbfd4512"/>
          <a:stretch xmlns:a="http://schemas.openxmlformats.org/drawingml/2006/main"/>
        </p:blipFill>
        <p:spPr>
          <a:xfrm xmlns:a="http://schemas.openxmlformats.org/drawingml/2006/main">
            <a:off x="6822345" y="1638300"/>
            <a:ext cx="1300036" cy="2247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05340-2C09-401A-805B-33C5B63C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609725"/>
            <a:ext cx="2733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Дуацид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678C4-2814-4387-89B9-A44110FF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000250"/>
            <a:ext cx="1428750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DDF3E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7C78"/>
                </a:solidFill>
                <a:latin typeface="Arial"/>
                <a:ea typeface="Arial"/>
                <a:cs typeface="Arial"/>
              </a:rPr>
              <a:t>концентрат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EE2E2-89CB-485A-8BAE-410EB587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390775"/>
            <a:ext cx="2733675" cy="3457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spcAft>
                <a:spcPts val="6"/>
              </a:spcAft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Состав: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дидецилдиметиламмоний хлорид 10% и полигексаметиленбигуанидин гидрохлорид 5%.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6"/>
              </a:spcAft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Спектр: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бактерицидная, вирулицидная и фунгицидная активность по инструкции.</a:t>
            </a:r>
          </a:p>
          <a:p xmlns:a="http://schemas.openxmlformats.org/drawingml/2006/main">
            <a:pPr algn="l">
              <a:lnSpc>
                <a:spcPct val="102000"/>
              </a:lnSpc>
              <a:spcAft>
                <a:spcPts val="6"/>
              </a:spcAft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Применение: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поверхности, ИМН и ПСО, оборудование, уборочный инвентарь и биологические выделения.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C2B36"/>
                </a:solidFill>
                <a:latin typeface="Arial"/>
                <a:ea typeface="Arial"/>
                <a:cs typeface="Arial"/>
              </a:rPr>
              <a:t>Особенность: </a:t>
            </a:r>
            <a:r>
              <a:rPr sz="1200">
                <a:solidFill>
                  <a:srgbClr val="1C2B36"/>
                </a:solidFill>
                <a:latin typeface="Arial"/>
                <a:ea typeface="Arial"/>
                <a:cs typeface="Arial"/>
              </a:rPr>
              <a:t>для крови и выделений используют отдельные рабочие режимы.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2F537-2163-4200-8077-4232597E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0683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13B22-948A-4D92-91EF-3F95A328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Сравнительная таблица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5BAB5-D9A0-4439-A356-6075F980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14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409700"/>
          <a:ext xmlns:a="http://schemas.openxmlformats.org/drawingml/2006/main" cx="11087100" cy="4438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1971675"/>
                <a:gridCol w="1524000"/>
                <a:gridCol w="1381125"/>
                <a:gridCol w="4133850"/>
              </a:tblGrid>
              <a:tr h="55483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Средство</a:t>
                      </a:r>
                    </a:p>
                  </a:txBody>
                  <a:tcPr marL="76200" marR="76200" marT="66675" marB="66675">
                    <a:lnL w="9525">
                      <a:solidFill>
                        <a:srgbClr val="D8E2E4"/>
                      </a:solidFill>
                      <a:prstDash val="solid"/>
                    </a:lnL>
                    <a:lnR w="9525">
                      <a:solidFill>
                        <a:srgbClr val="D8E2E4"/>
                      </a:solidFill>
                      <a:prstDash val="solid"/>
                    </a:lnR>
                    <a:lnT w="9525">
                      <a:solidFill>
                        <a:srgbClr val="D8E2E4"/>
                      </a:solidFill>
                      <a:prstDash val="solid"/>
                    </a:lnT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12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Основа</a:t>
                      </a:r>
                    </a:p>
                  </a:txBody>
                  <a:tcPr marL="76200" marR="76200" marT="66675" marB="66675">
                    <a:lnR w="9525">
                      <a:solidFill>
                        <a:srgbClr val="D8E2E4"/>
                      </a:solidFill>
                      <a:prstDash val="solid"/>
                    </a:lnR>
                    <a:lnT w="9525">
                      <a:solidFill>
                        <a:srgbClr val="D8E2E4"/>
                      </a:solidFill>
                      <a:prstDash val="solid"/>
                    </a:lnT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12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Туберкулез</a:t>
                      </a:r>
                    </a:p>
                  </a:txBody>
                  <a:tcPr marL="76200" marR="76200" marT="66675" marB="66675">
                    <a:lnR w="9525">
                      <a:solidFill>
                        <a:srgbClr val="D8E2E4"/>
                      </a:solidFill>
                      <a:prstDash val="solid"/>
                    </a:lnR>
                    <a:lnT w="9525">
                      <a:solidFill>
                        <a:srgbClr val="D8E2E4"/>
                      </a:solidFill>
                      <a:prstDash val="solid"/>
                    </a:lnT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12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Форма</a:t>
                      </a:r>
                    </a:p>
                  </a:txBody>
                  <a:tcPr marL="76200" marR="76200" marT="66675" marB="66675">
                    <a:lnR w="9525">
                      <a:solidFill>
                        <a:srgbClr val="D8E2E4"/>
                      </a:solidFill>
                      <a:prstDash val="solid"/>
                    </a:lnR>
                    <a:lnT w="9525">
                      <a:solidFill>
                        <a:srgbClr val="D8E2E4"/>
                      </a:solidFill>
                      <a:prstDash val="solid"/>
                    </a:lnT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12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Особенность для ЛПО</a:t>
                      </a:r>
                    </a:p>
                  </a:txBody>
                  <a:tcPr marL="76200" marR="76200" marT="66675" marB="66675">
                    <a:lnR w="9525">
                      <a:solidFill>
                        <a:srgbClr val="D8E2E4"/>
                      </a:solidFill>
                      <a:prstDash val="solid"/>
                    </a:lnR>
                    <a:lnT w="9525">
                      <a:solidFill>
                        <a:srgbClr val="D8E2E4"/>
                      </a:solidFill>
                      <a:prstDash val="solid"/>
                    </a:lnT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123044"/>
                    </a:solidFill>
                  </a:tcPr>
                </a:tc>
              </a:tr>
              <a:tr h="5548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Инол</a:t>
                      </a:r>
                    </a:p>
                  </a:txBody>
                  <a:tcPr marL="76200" marR="76200" marT="57150" marB="57150">
                    <a:lnL w="9525">
                      <a:solidFill>
                        <a:srgbClr val="D8E2E4"/>
                      </a:solidFill>
                      <a:prstDash val="solid"/>
                    </a:lnL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Спирты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Готовое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Антисептика рук и кожи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</a:tr>
              <a:tr h="5548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Цитоклин-лайт</a:t>
                      </a:r>
                    </a:p>
                  </a:txBody>
                  <a:tcPr marL="76200" marR="76200" marT="57150" marB="57150">
                    <a:lnL w="9525">
                      <a:solidFill>
                        <a:srgbClr val="D8E2E4"/>
                      </a:solidFill>
                      <a:prstDash val="solid"/>
                    </a:lnL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Изопропанол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по инструкции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Готовое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Быстрая обработка небольших объектов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</a:tr>
              <a:tr h="5548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Логодез-Форте</a:t>
                      </a:r>
                    </a:p>
                  </a:txBody>
                  <a:tcPr marL="76200" marR="76200" marT="57150" marB="57150">
                    <a:lnL w="9525">
                      <a:solidFill>
                        <a:srgbClr val="D8E2E4"/>
                      </a:solidFill>
                      <a:prstDash val="solid"/>
                    </a:lnL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ЧАС + ПГМГ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Концентрат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Поверхности, ИМН и ПСО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</a:tr>
              <a:tr h="5548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Крышталин-ЭКОДЕЗ</a:t>
                      </a:r>
                    </a:p>
                  </a:txBody>
                  <a:tcPr marL="76200" marR="76200" marT="57150" marB="57150">
                    <a:lnL w="9525">
                      <a:solidFill>
                        <a:srgbClr val="D8E2E4"/>
                      </a:solidFill>
                      <a:prstDash val="solid"/>
                    </a:lnL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ЧАС + ПГМГ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Концентрат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Широкий перечень объектов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</a:tr>
              <a:tr h="5548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Инкрасепт-10А</a:t>
                      </a:r>
                    </a:p>
                  </a:txBody>
                  <a:tcPr marL="76200" marR="76200" marT="57150" marB="57150">
                    <a:lnL w="9525">
                      <a:solidFill>
                        <a:srgbClr val="D8E2E4"/>
                      </a:solidFill>
                      <a:prstDash val="solid"/>
                    </a:lnL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ПГМГ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режим уточнить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Концентрат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Моющее действие, совместимость с материалами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</a:tr>
              <a:tr h="5548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Аминоцид</a:t>
                      </a:r>
                    </a:p>
                  </a:txBody>
                  <a:tcPr marL="76200" marR="76200" marT="57150" marB="57150">
                    <a:lnL w="9525">
                      <a:solidFill>
                        <a:srgbClr val="D8E2E4"/>
                      </a:solidFill>
                      <a:prstDash val="solid"/>
                    </a:lnL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Амин + ЧАС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Концентрат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Поверхности, оборудование и ИМН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  <a:solidFill>
                      <a:srgbClr val="EDF5F3"/>
                    </a:solidFill>
                  </a:tcPr>
                </a:tc>
              </a:tr>
              <a:tr h="5548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Дуацид</a:t>
                      </a:r>
                    </a:p>
                  </a:txBody>
                  <a:tcPr marL="76200" marR="76200" marT="57150" marB="57150">
                    <a:lnL w="9525">
                      <a:solidFill>
                        <a:srgbClr val="D8E2E4"/>
                      </a:solidFill>
                      <a:prstDash val="solid"/>
                    </a:lnL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Бигуанидин + ЧАС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Концентрат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C2B36"/>
                          </a:solidFill>
                          <a:latin typeface="Arial"/>
                          <a:ea typeface="Arial"/>
                          <a:cs typeface="Arial"/>
                        </a:rPr>
                        <a:t>Биологические выделения и ПСО</a:t>
                      </a:r>
                    </a:p>
                  </a:txBody>
                  <a:tcPr marL="76200" marR="76200" marT="57150" marB="57150">
                    <a:lnR w="9525">
                      <a:solidFill>
                        <a:srgbClr val="D8E2E4"/>
                      </a:solidFill>
                      <a:prstDash val="solid"/>
                    </a:lnR>
                    <a:lnB w="9525">
                      <a:solidFill>
                        <a:srgbClr val="D8E2E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0014C-5BBE-42C2-9EF7-5C9A175B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20321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B4973-5221-4A94-814E-E58307EA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Анасепт: отдельная оценка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C3F9D-DC75-4463-92C1-F6BF8BBB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14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9F12C-2F42-432C-B2AA-1D208FB2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3333750" cy="44291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15e9c372443e2"/>
          <a:stretch xmlns:a="http://schemas.openxmlformats.org/drawingml/2006/main"/>
        </p:blipFill>
        <p:spPr>
          <a:xfrm xmlns:a="http://schemas.openxmlformats.org/drawingml/2006/main">
            <a:off x="819150" y="2128838"/>
            <a:ext cx="3181350" cy="3181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FE445-D81F-4435-A4D5-548D60BE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716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Статус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D3850-1E02-41F3-90C7-D844AF02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28825"/>
            <a:ext cx="619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B36"/>
                </a:solidFill>
                <a:latin typeface="Arial"/>
                <a:ea typeface="Arial"/>
                <a:cs typeface="Arial"/>
              </a:rPr>
              <a:t>В открытом белорусском каталоге средство указано как концентрат на основе ЧАС 5,5% и ПГМГ 2,5%. Рабочий раствор хранится до 10 суток.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1EBCD-C653-481E-8ED6-A1313E67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528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Назначение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A2510-4DF1-4A66-8020-92AE74E0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100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C2B36"/>
                </a:solidFill>
                <a:latin typeface="Arial"/>
                <a:ea typeface="Arial"/>
                <a:cs typeface="Arial"/>
              </a:rPr>
              <a:t>Дезинфекция поверхностей, ИМН и совмещенная ПСО. В каталоге также указаны режимы для биологических выделений.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04792-3A99-4DAE-97B5-7C914643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646649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3007F-4378-4473-ACF4-BB8246F0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Выводы для ЛПО Гродненского района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5377A-8B0B-464A-80B1-AE1AA0CE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14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61AC7-5113-44FE-B7A5-D1E22AC9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5D002-D8E6-48FA-92C6-318104B2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04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Руки и кожные покровы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91F11-DB29-4DBF-8968-E272936F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76375"/>
            <a:ext cx="690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lvl1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C2B36"/>
                </a:solidFill>
                <a:latin typeface="Arial"/>
                <a:ea typeface="Arial"/>
                <a:cs typeface="Arial"/>
              </a:rPr>
              <a:t>Инол и Цитоклин-лайт применяют как готовые спиртосодержащие средства без разведения.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5C6C8-539F-417A-94F9-1B3CD87F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36DA0-B292-45F8-8EF8-64E8B4DA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706A6-6F4B-442A-9066-EDF45D10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Поверхности и ПСО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0F73D-E4DD-4C25-93DE-1F6539F0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19375"/>
            <a:ext cx="690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lvl1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C2B36"/>
                </a:solidFill>
                <a:latin typeface="Arial"/>
                <a:ea typeface="Arial"/>
                <a:cs typeface="Arial"/>
              </a:rPr>
              <a:t>Логодез-Форте, Крышталин-ЭКОДЕЗ и Инкрасепт-10А используют по режимам для конкретного объекта и инфекции.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E89EB-4B23-4950-9F23-A468726E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DC1C7-B855-4E75-9C59-B3D8A154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8B00E-FC29-4067-BB53-4A944708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Оборудование и ИМН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8AD9F-1235-4D0D-98BC-2EF59C5F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62375"/>
            <a:ext cx="690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lvl1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C2B36"/>
                </a:solidFill>
                <a:latin typeface="Arial"/>
                <a:ea typeface="Arial"/>
                <a:cs typeface="Arial"/>
              </a:rPr>
              <a:t>Аминоцид подходит для многообъектной обработки. Совместимость с материалами и режим ПСО проверяют по инструкции.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46E93-29F0-4AAF-9B25-1E1F342A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37A728-77FB-4760-BD0D-D1B222E4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27C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C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57CB4-B794-40F1-A275-974F95D6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33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23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044"/>
                </a:solidFill>
                <a:latin typeface="Arial"/>
                <a:ea typeface="Arial"/>
                <a:cs typeface="Arial"/>
              </a:rPr>
              <a:t>Биологические выделения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563A9-0F10-4579-B72E-F28A8EBE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05375"/>
            <a:ext cx="690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lvl1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C2B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C2B36"/>
                </a:solidFill>
                <a:latin typeface="Arial"/>
                <a:ea typeface="Arial"/>
                <a:cs typeface="Arial"/>
              </a:rPr>
              <a:t>Дуацид имеет отдельные режимы для крови и других выделений. Концентрация и экспозиция зависят от вида материала.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855F3-5092-4101-B625-C53F9D77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lvl1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1233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2026-10-20T18:16:07.8150000Z</dcterms:created>
  <dcterms:modified xsi:type="dcterms:W3CDTF">2026-10-20T18:16:07.8150000Z</dcterms:modified>
</coreProperties>
</file>